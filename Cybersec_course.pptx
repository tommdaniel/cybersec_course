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 Medium" charset="1" panose="00000600000000000000"/>
      <p:regular r:id="rId11"/>
    </p:embeddedFont>
    <p:embeddedFont>
      <p:font typeface="Open Sauce Light" charset="1" panose="000004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secureframe.com/hub/iso-27001/clauses?utm_source=chatgpt.com" TargetMode="External" Type="http://schemas.openxmlformats.org/officeDocument/2006/relationships/hyperlink"/><Relationship Id="rId3" Target="https://www.isms.online/iso-27002/?utm_source=chatgpt.com" TargetMode="External" Type="http://schemas.openxmlformats.org/officeDocument/2006/relationships/hyperlink"/><Relationship Id="rId4" Target="https://www.icims.com/wp-content/uploads/2021/09/IT-Security-Policy-6SEPTEMBER2021.pdf?utm_source=chatgpt.co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1069" y="4419600"/>
            <a:ext cx="1537117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b="true" sz="9500">
                <a:solidFill>
                  <a:srgbClr val="9179FA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iCIMS IT Security Policy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718920" y="-4960950"/>
            <a:ext cx="13506576" cy="16009950"/>
          </a:xfrm>
          <a:custGeom>
            <a:avLst/>
            <a:gdLst/>
            <a:ahLst/>
            <a:cxnLst/>
            <a:rect r="r" b="b" t="t" l="l"/>
            <a:pathLst>
              <a:path h="16009950" w="13506576">
                <a:moveTo>
                  <a:pt x="0" y="0"/>
                </a:moveTo>
                <a:lnTo>
                  <a:pt x="13506576" y="0"/>
                </a:lnTo>
                <a:lnTo>
                  <a:pt x="13506576" y="16009950"/>
                </a:lnTo>
                <a:lnTo>
                  <a:pt x="0" y="16009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989895" y="8045450"/>
            <a:ext cx="2308211" cy="1021247"/>
            <a:chOff x="0" y="0"/>
            <a:chExt cx="1270081" cy="561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081" cy="561936"/>
            </a:xfrm>
            <a:custGeom>
              <a:avLst/>
              <a:gdLst/>
              <a:ahLst/>
              <a:cxnLst/>
              <a:rect r="r" b="b" t="t" l="l"/>
              <a:pathLst>
                <a:path h="561936" w="1270081">
                  <a:moveTo>
                    <a:pt x="77144" y="0"/>
                  </a:moveTo>
                  <a:lnTo>
                    <a:pt x="1192937" y="0"/>
                  </a:lnTo>
                  <a:cubicBezTo>
                    <a:pt x="1213397" y="0"/>
                    <a:pt x="1233019" y="8128"/>
                    <a:pt x="1247486" y="22595"/>
                  </a:cubicBezTo>
                  <a:cubicBezTo>
                    <a:pt x="1261953" y="37062"/>
                    <a:pt x="1270081" y="56684"/>
                    <a:pt x="1270081" y="77144"/>
                  </a:cubicBezTo>
                  <a:lnTo>
                    <a:pt x="1270081" y="484792"/>
                  </a:lnTo>
                  <a:cubicBezTo>
                    <a:pt x="1270081" y="505252"/>
                    <a:pt x="1261953" y="524874"/>
                    <a:pt x="1247486" y="539341"/>
                  </a:cubicBezTo>
                  <a:cubicBezTo>
                    <a:pt x="1233019" y="553808"/>
                    <a:pt x="1213397" y="561936"/>
                    <a:pt x="1192937" y="561936"/>
                  </a:cubicBezTo>
                  <a:lnTo>
                    <a:pt x="77144" y="561936"/>
                  </a:lnTo>
                  <a:cubicBezTo>
                    <a:pt x="56684" y="561936"/>
                    <a:pt x="37062" y="553808"/>
                    <a:pt x="22595" y="539341"/>
                  </a:cubicBezTo>
                  <a:cubicBezTo>
                    <a:pt x="8128" y="524874"/>
                    <a:pt x="0" y="505252"/>
                    <a:pt x="0" y="484792"/>
                  </a:cubicBezTo>
                  <a:lnTo>
                    <a:pt x="0" y="77144"/>
                  </a:lnTo>
                  <a:cubicBezTo>
                    <a:pt x="0" y="56684"/>
                    <a:pt x="8128" y="37062"/>
                    <a:pt x="22595" y="22595"/>
                  </a:cubicBezTo>
                  <a:cubicBezTo>
                    <a:pt x="37062" y="8128"/>
                    <a:pt x="56684" y="0"/>
                    <a:pt x="77144" y="0"/>
                  </a:cubicBezTo>
                  <a:close/>
                </a:path>
              </a:pathLst>
            </a:custGeom>
            <a:blipFill>
              <a:blip r:embed="rId4"/>
              <a:stretch>
                <a:fillRect l="-4199" t="0" r="-419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81424" y="-4878400"/>
            <a:ext cx="13506576" cy="16009950"/>
          </a:xfrm>
          <a:custGeom>
            <a:avLst/>
            <a:gdLst/>
            <a:ahLst/>
            <a:cxnLst/>
            <a:rect r="r" b="b" t="t" l="l"/>
            <a:pathLst>
              <a:path h="16009950" w="13506576">
                <a:moveTo>
                  <a:pt x="13506576" y="0"/>
                </a:moveTo>
                <a:lnTo>
                  <a:pt x="0" y="0"/>
                </a:lnTo>
                <a:lnTo>
                  <a:pt x="0" y="16009950"/>
                </a:lnTo>
                <a:lnTo>
                  <a:pt x="13506576" y="16009950"/>
                </a:lnTo>
                <a:lnTo>
                  <a:pt x="13506576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43638"/>
            <a:ext cx="16846550" cy="9399724"/>
            <a:chOff x="0" y="0"/>
            <a:chExt cx="22462067" cy="1253296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2462067" cy="345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00"/>
                </a:lnSpc>
                <a:spcBef>
                  <a:spcPct val="0"/>
                </a:spcBef>
              </a:pPr>
              <a:r>
                <a:rPr lang="en-US" sz="8500">
                  <a:solidFill>
                    <a:srgbClr val="9179FA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Pontos fortes (iCIMS IT Security Policy)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208115"/>
              <a:ext cx="22462067" cy="832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Escopo claro de proteção de “Subscriber Data” e referência explícita a documentos de suporte (DSPS e Processo de Resposta a Incidentes). 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Inventário de ativos formalizado (seção “Inventory Management Policy”) — base para acesso, patching e auditoria.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Triagem de pessoal (background checks) — diretrizes de verificação proporcionais ao risco de função.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Gestão de terceiros/fornecedores — política dedicada a risco de parceiros e requisitos mínimos.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Processo de resposta a incidentes atualizado (2023) — papéis, reporte e ciclo de tratamento documentados.</a:t>
              </a:r>
            </a:p>
            <a:p>
              <a:pPr algn="l">
                <a:lnSpc>
                  <a:spcPts val="45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81424" y="-4941900"/>
            <a:ext cx="13506576" cy="16009950"/>
          </a:xfrm>
          <a:custGeom>
            <a:avLst/>
            <a:gdLst/>
            <a:ahLst/>
            <a:cxnLst/>
            <a:rect r="r" b="b" t="t" l="l"/>
            <a:pathLst>
              <a:path h="16009950" w="13506576">
                <a:moveTo>
                  <a:pt x="13506576" y="0"/>
                </a:moveTo>
                <a:lnTo>
                  <a:pt x="0" y="0"/>
                </a:lnTo>
                <a:lnTo>
                  <a:pt x="0" y="16009950"/>
                </a:lnTo>
                <a:lnTo>
                  <a:pt x="13506576" y="16009950"/>
                </a:lnTo>
                <a:lnTo>
                  <a:pt x="13506576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558" y="443638"/>
            <a:ext cx="16896442" cy="9399724"/>
            <a:chOff x="0" y="0"/>
            <a:chExt cx="22528590" cy="1253296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2528590" cy="3454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200"/>
                </a:lnSpc>
                <a:spcBef>
                  <a:spcPct val="0"/>
                </a:spcBef>
              </a:pPr>
              <a:r>
                <a:rPr lang="en-US" sz="8500">
                  <a:solidFill>
                    <a:srgbClr val="9179FA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Pontos de melhoria (guiados pela família ISO 27000)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208115"/>
              <a:ext cx="22528590" cy="832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Conectar à 27001 (cláus. 4–10): explicitar contexto/partes interessadas, papéis e objetivos mensuráveis.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Risco &amp; SoA: descrever método de avaliação/tratamento, definir apetite de risco e publicar a Declaração de Aplicabilidade.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Métricas (KPIs): MTTA/MTTR de incidentes, % de ativos com dono/classificação, cobertura de screening, prazos de correção.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Terceiros (ciclo completo): onboarding → monitoramento → offboarding, com cláusulas mínimas (notificação, auditoria, destruição/devolução de dados).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Logs &amp; Continuidade: requisitos mínimos de registro/retensão e RPO/RTO testados; explicitar controles para ambientes em nuvem.</a:t>
              </a:r>
            </a:p>
            <a:p>
              <a:pPr algn="just">
                <a:lnSpc>
                  <a:spcPts val="450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94841" y="3096351"/>
            <a:ext cx="6498317" cy="4094299"/>
            <a:chOff x="0" y="0"/>
            <a:chExt cx="8664423" cy="545906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866442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199"/>
                </a:lnSpc>
                <a:spcBef>
                  <a:spcPct val="0"/>
                </a:spcBef>
              </a:pPr>
              <a:r>
                <a:rPr lang="en-US" sz="8499">
                  <a:solidFill>
                    <a:srgbClr val="9179FA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Referências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68215"/>
              <a:ext cx="8664423" cy="2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 u="sng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  <a:hlinkClick r:id="rId2" tooltip="https://secureframe.com/hub/iso-27001/clauses?utm_source=chatgpt.com"/>
                </a:rPr>
                <a:t>Secureframe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 u="sng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  <a:hlinkClick r:id="rId3" tooltip="https://www.isms.online/iso-27002/?utm_source=chatgpt.com"/>
                </a:rPr>
                <a:t>ISMS.online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 u="sng">
                  <a:solidFill>
                    <a:srgbClr val="FFFFFF"/>
                  </a:solidFill>
                  <a:latin typeface="Open Sauce Light"/>
                  <a:ea typeface="Open Sauce Light"/>
                  <a:cs typeface="Open Sauce Light"/>
                  <a:sym typeface="Open Sauce Light"/>
                  <a:hlinkClick r:id="rId4" tooltip="https://www.icims.com/wp-content/uploads/2021/09/IT-Security-Policy-6SEPTEMBER2021.pdf?utm_source=chatgpt.com"/>
                </a:rPr>
                <a:t>iCIMS</a:t>
              </a:r>
            </a:p>
            <a:p>
              <a:pPr algn="just">
                <a:lnSpc>
                  <a:spcPts val="45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913313">
            <a:off x="5628595" y="-4100810"/>
            <a:ext cx="17155205" cy="13942503"/>
          </a:xfrm>
          <a:custGeom>
            <a:avLst/>
            <a:gdLst/>
            <a:ahLst/>
            <a:cxnLst/>
            <a:rect r="r" b="b" t="t" l="l"/>
            <a:pathLst>
              <a:path h="13942503" w="17155205">
                <a:moveTo>
                  <a:pt x="0" y="0"/>
                </a:moveTo>
                <a:lnTo>
                  <a:pt x="17155205" y="0"/>
                </a:lnTo>
                <a:lnTo>
                  <a:pt x="17155205" y="13942503"/>
                </a:lnTo>
                <a:lnTo>
                  <a:pt x="0" y="13942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084" y="5980354"/>
            <a:ext cx="95352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</a:t>
            </a:r>
            <a:r>
              <a:rPr lang="en-US" sz="760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lguma pergunta?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DAHI6iJETpE</dc:identifier>
  <dcterms:modified xsi:type="dcterms:W3CDTF">2011-08-01T06:04:30Z</dcterms:modified>
  <cp:revision>1</cp:revision>
  <dc:title>Cópia de iCIMS IT Security Policy </dc:title>
</cp:coreProperties>
</file>