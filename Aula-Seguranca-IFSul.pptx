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8"/>
    <p:sldId id="257" r:id="rId9"/>
    <p:sldId id="258" r:id="rId7"/>
    <p:sldId id="259" r:id="rId6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8288000" cy="10287000"/>
  <p:notesSz cx="6858000" cy="9144000"/>
  <p:embeddedFontLst>
    <p:embeddedFont>
      <p:font typeface="Open Sauce Medium" charset="1" panose="00000600000000000000"/>
      <p:regular r:id="rId11"/>
    </p:embeddedFont>
    <p:embeddedFont>
      <p:font typeface="Open Sauce Light" charset="1" panose="000004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1.fntdata"/><Relationship Id="rId12" Type="http://schemas.openxmlformats.org/officeDocument/2006/relationships/font" Target="fonts/font12.fntdata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apresenta o background dele primeiro, então o Francesco. Reforce que vocês trazem perspectivas COMPLEMENTARES: produto/dev (NewSeg) e infra/suporte enterprise (Red Hat). Diga que segurança não é uma carreira só — tem várias portas de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pra turma: 'qual desses 3 vocês acham mais importante?' Resposta: depende. Banco prioriza integridade. Hospital prioriza disponibilidade. Inteligência militar prioriza confidencialidade.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imagem do capuz no escuro é o estereótipo da mídia. Reforce que a maioria dos ataques é pra dinheiro, não pra mostrar habilidade. E que pesquisador de segurança hoje é uma carreira respeitada.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Analogia: o caixa do banco é o cliente, o cofre é 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atividade prática, /api/flag retorna 403 antes da exploração e 200 depois — dica visual gigante.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Escreva 'never trust the client' no quadro e deixe lá pelo resto da aula. Pergunte: 'se o checkbox "sou admin" fosse só do navegador, o que dava errado?'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cite o termo técnico 'mass assignment' aqui — esse é o nome do bug específico do CTF.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Reserve 15-20min pra atividade. Circule pela sala observando qual hint cada um abriu.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728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  <a:latin typeface="Inter"/>
              </a:rPr>
              <a:t>MINI-CURSO</a:t>
            </a:r>
            <a:r>
              <a:rPr sz="16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600" b="1" i="0">
                <a:solidFill>
                  <a:srgbClr val="8B97AE"/>
                </a:solidFill>
                <a:latin typeface="Inter"/>
              </a:rPr>
              <a:t>IF SUL · TÉCNICO EM INFORMÁTICA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728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8B97AE"/>
                </a:solidFill>
                <a:latin typeface="Inter"/>
              </a:rPr>
              <a:t>Introdução 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7282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F8FAFC"/>
                </a:solidFill>
                <a:latin typeface="Inter"/>
              </a:rPr>
              <a:t>Segurança da Informação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1728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BD5E1"/>
                </a:solidFill>
                <a:latin typeface="Inter"/>
              </a:rPr>
              <a:t>Protocolos para defesa, melhores práticas e ferramentas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1728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60A5FA"/>
                </a:solidFill>
                <a:latin typeface="Inter"/>
              </a:rPr>
              <a:t>para penetração de sistemas.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949440"/>
            <a:ext cx="228600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132320"/>
            <a:ext cx="1728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B97AE"/>
                </a:solidFill>
                <a:latin typeface="Inter"/>
              </a:rPr>
              <a:t>AUTORES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589520"/>
            <a:ext cx="1728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Daniel Tomm   ·   Francesco Galvão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503920"/>
            <a:ext cx="1728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670"/>
                </a:solidFill>
                <a:latin typeface="Inter"/>
              </a:rPr>
              <a:t>PampaComputing  ·  IF Sul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Inter"/>
              </a:rPr>
              <a:t>01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SEGURANÇA DA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Quem está com vocês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Dois profissionais de áreas bem diferentes da segurança.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84582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8458200" cy="14630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374904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1B243A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490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60A5FA"/>
                </a:solidFill>
                <a:latin typeface="Inter"/>
              </a:rPr>
              <a:t>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794760"/>
            <a:ext cx="5989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Daniel Tomm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389120"/>
            <a:ext cx="5989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B97AE"/>
                </a:solidFill>
                <a:latin typeface="Inter"/>
              </a:rPr>
              <a:t>Engenharia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303520"/>
            <a:ext cx="7360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97AE"/>
                </a:solidFill>
                <a:latin typeface="Inter"/>
              </a:rPr>
              <a:t>TRABALHA NA  </a:t>
            </a:r>
            <a:r>
              <a:rPr sz="1300" b="1" i="0">
                <a:solidFill>
                  <a:srgbClr val="60A5FA"/>
                </a:solidFill>
                <a:latin typeface="Inter"/>
              </a:rPr>
              <a:t>NewSeg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15000"/>
            <a:ext cx="7360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CBD5E1"/>
                </a:solidFill>
                <a:latin typeface="Inter"/>
              </a:rPr>
              <a:t>soluções para segurança pública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766560"/>
            <a:ext cx="736092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000" b="0" i="0">
                <a:solidFill>
                  <a:srgbClr val="CBD5E1"/>
                </a:solidFill>
                <a:latin typeface="Inter"/>
              </a:rPr>
              <a:t>Trabalha desenvolvendo sistemas usados por forças de segurança pública no Brasil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000" b="0" i="0">
                <a:solidFill>
                  <a:srgbClr val="CBD5E1"/>
                </a:solidFill>
                <a:latin typeface="Inter"/>
              </a:rPr>
              <a:t>Foco em backend, integrações e arquitetura de sistemas críticos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000" b="0" i="0">
                <a:solidFill>
                  <a:srgbClr val="CBD5E1"/>
                </a:solidFill>
                <a:latin typeface="Inter"/>
              </a:rPr>
              <a:t>Atua na ponta entre desenvolvimento e operação — onde os ataques chegam primeiro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108960"/>
            <a:ext cx="84582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3108960"/>
            <a:ext cx="845820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0" y="374904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1B243A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37490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F87171"/>
                </a:solidFill>
                <a:latin typeface="Inter"/>
              </a:rPr>
              <a:t>FG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3794760"/>
            <a:ext cx="5989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Francesco Galvão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4389120"/>
            <a:ext cx="5989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B97AE"/>
                </a:solidFill>
                <a:latin typeface="Inter"/>
              </a:rPr>
              <a:t>Support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5303520"/>
            <a:ext cx="7360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97AE"/>
                </a:solidFill>
                <a:latin typeface="Inter"/>
              </a:rPr>
              <a:t>TRABALHA NA  </a:t>
            </a:r>
            <a:r>
              <a:rPr sz="1300" b="1" i="0">
                <a:solidFill>
                  <a:srgbClr val="F87171"/>
                </a:solidFill>
                <a:latin typeface="Inter"/>
              </a:rPr>
              <a:t>Red 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5715000"/>
            <a:ext cx="7360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CBD5E1"/>
                </a:solidFill>
                <a:latin typeface="Inter"/>
              </a:rPr>
              <a:t>uma das maiores empresas de tecnologia open-source do mundo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766560"/>
            <a:ext cx="736092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000" b="0" i="0">
                <a:solidFill>
                  <a:srgbClr val="CBD5E1"/>
                </a:solidFill>
                <a:latin typeface="Inter"/>
              </a:rPr>
              <a:t>Trabalha resolvendo problemas reais de segurança em infraestrutura corporativa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000" b="0" i="0">
                <a:solidFill>
                  <a:srgbClr val="CBD5E1"/>
                </a:solidFill>
                <a:latin typeface="Inter"/>
              </a:rPr>
              <a:t>Lida no dia a dia com Linux, contêineres, e o ecossistema enterprise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000" b="0" i="0">
                <a:solidFill>
                  <a:srgbClr val="CBD5E1"/>
                </a:solidFill>
                <a:latin typeface="Inter"/>
              </a:rPr>
              <a:t>Foco em descobrir, mitigar e corrigir vulnerabilidades em produção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Inter"/>
              </a:rPr>
              <a:t>01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SEGURANÇA DA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O que vamos fazer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Plano da próxima 1h.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1728216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Conceitos: o que é segurança da informação, como a internet funciona, boas práticas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Ferramentas: Burp Suite, Nmap e automação com IA (Claude Code CLI)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Atividade prática: vocês vão atacar um banco fictício no meio da aula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Fechamento: ética, leis brasileiras e por onde seguir estudando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Vocês não precisam saber nada de segurança pra acompanhar.</a:t>
            </a:r>
          </a:p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400" b="0" i="0">
                <a:solidFill>
                  <a:srgbClr val="CBD5E1"/>
                </a:solidFill>
                <a:latin typeface="Inter"/>
              </a:rPr>
              <a:t>Se já programaram alguma coisa, vai ser mais rápido — mas não é requisito.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31520"/>
            <a:ext cx="7315200" cy="64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0" b="1" i="0">
                <a:solidFill>
                  <a:srgbClr val="1B243A"/>
                </a:solidFill>
                <a:latin typeface="Inter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931920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  <a:latin typeface="Inter"/>
              </a:rPr>
              <a:t>BLOCO  ·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6280"/>
            <a:ext cx="1371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0" b="1" i="0">
                <a:solidFill>
                  <a:srgbClr val="F8FAFC"/>
                </a:solidFill>
                <a:latin typeface="Inter"/>
              </a:rPr>
              <a:t>Segurança da Informação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943600"/>
            <a:ext cx="1828800" cy="548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Inter"/>
              </a:rPr>
              <a:t>01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SEGURANÇA DA INFORMAÇÃO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Inter"/>
              </a:rPr>
              <a:t>01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SEGURANÇA DA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Segurança da Informação tem três pilares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Toda decisão de segurança gira em torno desses três.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5577840" cy="585216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200400"/>
            <a:ext cx="5577840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0" b="1" i="0">
                <a:solidFill>
                  <a:srgbClr val="60A5FA"/>
                </a:solidFill>
                <a:latin typeface="Inter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43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97AE"/>
                </a:solidFill>
                <a:latin typeface="Inter"/>
              </a:rPr>
              <a:t>CONFIDENTIALITY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093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Confidencialidade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722376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Inter"/>
              </a:rPr>
              <a:t>Só quem é autorizado vê o dado. Senha não vaza. Mensagem privada continua privada.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200400"/>
            <a:ext cx="5577840" cy="585216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3200400"/>
            <a:ext cx="5577840" cy="1645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65760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0" b="1" i="0">
                <a:solidFill>
                  <a:srgbClr val="A78BFA"/>
                </a:solidFill>
                <a:latin typeface="Inter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943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97AE"/>
                </a:solidFill>
                <a:latin typeface="Inter"/>
              </a:rPr>
              <a:t>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63093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Integridade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722376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Inter"/>
              </a:rPr>
              <a:t>O dado não é alterado por quem não pode. Ninguém edita seu boletim sem você saber.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207240" y="3200400"/>
            <a:ext cx="5577840" cy="585216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207240" y="3200400"/>
            <a:ext cx="5577840" cy="164592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73000" y="365760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0" b="1" i="0">
                <a:solidFill>
                  <a:srgbClr val="4ADE80"/>
                </a:solidFill>
                <a:latin typeface="Inter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0" y="5943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97AE"/>
                </a:solidFill>
                <a:latin typeface="Inter"/>
              </a:rPr>
              <a:t>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3000" y="63093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Disponibilidade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0" y="722376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Inter"/>
              </a:rPr>
              <a:t>O sistema está no ar quando você precisa. Banco não pode sair fora 6h por 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Inter"/>
              </a:rPr>
              <a:t>01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SEGURANÇA DA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Quem ataca, e por quê?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A imagem do hacker de capuz é só o começo.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ttack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attack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Cibercriminosos — ganham dinheiro: ransomware, fraude, golpe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Hacktivistas — querem fazer um recado político ou social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Insiders — funcionário descontente, ex-funcionário, terceirizado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Estados / espionagem — guerra digital entre países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Script kiddies — adolescentes copiando ferramentas, fazendo bagunça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Pesquisadores e pentesters — atacam com autorização, com contrato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31520"/>
            <a:ext cx="7315200" cy="64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0" b="1" i="0">
                <a:solidFill>
                  <a:srgbClr val="1B243A"/>
                </a:solidFill>
                <a:latin typeface="Inter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931920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BLOCO  ·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6280"/>
            <a:ext cx="1371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0" b="1" i="0">
                <a:solidFill>
                  <a:srgbClr val="F8FAFC"/>
                </a:solidFill>
                <a:latin typeface="Inter"/>
              </a:rPr>
              <a:t>Como a Internet funciona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943600"/>
            <a:ext cx="1828800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ter"/>
              </a:rPr>
              <a:t>02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COMO A INTERNET FUNCIONA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ter"/>
              </a:rPr>
              <a:t>02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COMO A INTERNET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Cliente e Servidor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O modelo mental que sustenta tudo no resto da aula.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84582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8458200" cy="14630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7543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Inter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7543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Onde você está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03520"/>
            <a:ext cx="75438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navegador, app de celular, terminal, programa qualquer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mostra a tela e roda do seu lado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PODE ser modificado, falsificado, hackeado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é descartável — nunca é fonte de verdade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108960"/>
            <a:ext cx="84582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0" y="3108960"/>
            <a:ext cx="8458200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3566160"/>
            <a:ext cx="7543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Inter"/>
              </a:rPr>
              <a:t>SERVIDOR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4023360"/>
            <a:ext cx="7543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Onde os dados moram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5303520"/>
            <a:ext cx="75438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computador remoto que guarda e processa os dados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decide o que pode e o que não pode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é onde MORAM as regras de verdade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é a única coisa em que vale a pena confiar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ter"/>
              </a:rPr>
              <a:t>02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COMO A INTERNET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HTTP — toda conversa na web tem o mesmo formato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Cliente faz uma pergunta. Servidor responde.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ttp-co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http-co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Uma REQUEST tem: método + URL + headers + (às vezes) body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Uma RESPONSE tem: status code + headers + body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É tudo TEXTO. Você consegue ler com os olhos.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Exemplo de request: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GET /api/saldo  HTTP/1.1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Host: meu-banco.com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Authorization: Bearer xxx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Exemplo de response: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HTTP/1.1 200 OK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{ "saldo": 1234.56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ter"/>
              </a:rPr>
              <a:t>02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COMO A INTERNET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Os 4 métodos que importam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Mesma URL com método diferente faz coisa diferente.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4114800" cy="585216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200400"/>
            <a:ext cx="4114800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0" b="1" i="0">
                <a:solidFill>
                  <a:srgbClr val="60A5FA"/>
                </a:solidFill>
                <a:latin typeface="Inter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43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97AE"/>
                </a:solidFill>
                <a:latin typeface="Inter"/>
              </a:rPr>
              <a:t>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093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Consultar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722376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Inter"/>
              </a:rPr>
              <a:t>Pede uma informação. Não muda nada no servidor. Ex: ver saldo.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3200400"/>
            <a:ext cx="4114800" cy="585216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92040" y="3200400"/>
            <a:ext cx="4114800" cy="164592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65760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1" i="0">
                <a:solidFill>
                  <a:srgbClr val="4ADE80"/>
                </a:solidFill>
                <a:latin typeface="Inter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5943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97AE"/>
                </a:solidFill>
                <a:latin typeface="Inter"/>
              </a:rPr>
              <a:t>CRIAR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63093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Enviar novo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722376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Inter"/>
              </a:rPr>
              <a:t>Cria algo novo. Ex: fazer login, abrir conta.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3200400"/>
            <a:ext cx="4114800" cy="585216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1160" y="3200400"/>
            <a:ext cx="4114800" cy="1645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365760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1" i="0">
                <a:solidFill>
                  <a:srgbClr val="FBBF24"/>
                </a:solidFill>
                <a:latin typeface="Inter"/>
              </a:rPr>
              <a:t>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5943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97AE"/>
                </a:solidFill>
                <a:latin typeface="Inter"/>
              </a:rPr>
              <a:t>ATUALIZAR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63093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Mudar parte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722376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Inter"/>
              </a:rPr>
              <a:t>Atualiza só os campos enviados. Ex: trocar nome do cliente.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670280" y="3200400"/>
            <a:ext cx="4114800" cy="585216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670280" y="3200400"/>
            <a:ext cx="4114800" cy="164592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036040" y="365760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0" b="1" i="0">
                <a:solidFill>
                  <a:srgbClr val="F87171"/>
                </a:solidFill>
                <a:latin typeface="Inter"/>
              </a:rPr>
              <a:t>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36040" y="5943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97AE"/>
                </a:solidFill>
                <a:latin typeface="Inter"/>
              </a:rPr>
              <a:t>APAGAR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36040" y="63093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Remover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36040" y="722376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Inter"/>
              </a:rPr>
              <a:t>Apaga algo. Ex: encerrar conta, remover postagem.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ter"/>
              </a:rPr>
              <a:t>02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COMO A INTERNET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Status codes que vocês vão ver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Toda response começa com um número de 3 dígitos.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atus-co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status-co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200  ·  OK, deu certo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201  ·  Criado (depois de um POST)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401  ·  Você não está logado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403  ·  Você está logado mas NÃO PODE fazer isso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404  ·  Não existe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500  ·  O servidor quebrou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Foque em 200 / 401 / 403 — são os que mais aparecem no dia a 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ter"/>
              </a:rPr>
              <a:t>02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COMO A INTERNET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Headers e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Headers são o envelope. JSON é o conteúdo.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84582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8458200" cy="14630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7543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Inter"/>
              </a:rPr>
              <a:t>HEADERS — O ENVELOPE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7543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Metadados da requisição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03520"/>
            <a:ext cx="75438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Content-Type — o que tem dentro do body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User-Agent — qual navegador/app está mandando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Accept-Language — idioma preferido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Cookie / Authorization — quem é você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108960"/>
            <a:ext cx="84582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0" y="3108960"/>
            <a:ext cx="8458200" cy="146304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3566160"/>
            <a:ext cx="7543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Inter"/>
              </a:rPr>
              <a:t>JSON — O CONTEÚDO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4023360"/>
            <a:ext cx="7543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Inter"/>
              </a:rPr>
              <a:t>Estrutura de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5303520"/>
            <a:ext cx="75438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estrutura igual a objetos de JS / dicts de Python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chave: valor — pode aninhar e fazer listas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{ "nome": "Ana", "isAdmin": false }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CBD5E1"/>
                </a:solidFill>
                <a:latin typeface="Inter"/>
              </a:rPr>
              <a:t>formato universal de troca de dados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31520"/>
            <a:ext cx="7315200" cy="64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0" b="1" i="0">
                <a:solidFill>
                  <a:srgbClr val="1B243A"/>
                </a:solidFill>
                <a:latin typeface="Inter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931920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Inter"/>
              </a:rPr>
              <a:t>BLOCO  ·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6280"/>
            <a:ext cx="1371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0" b="1" i="0">
                <a:solidFill>
                  <a:srgbClr val="F8FAFC"/>
                </a:solidFill>
                <a:latin typeface="Inter"/>
              </a:rPr>
              <a:t>Boas práticas de defesa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94360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Inter"/>
              </a:rPr>
              <a:t>03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BOAS PRÁTICAS DE DEFESA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Inter"/>
              </a:rPr>
              <a:t>03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BOAS PRÁTICAS DE DEFESA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13716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728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Inter"/>
              </a:rPr>
              <a:t>REGRA DE OURO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72821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8FAFC"/>
                </a:solidFill>
                <a:latin typeface="Inter"/>
              </a:rPr>
              <a:t>“Never trust the client.”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77240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8B97AE"/>
                </a:solidFill>
                <a:latin typeface="Inter"/>
              </a:rPr>
              <a:t>Toda regra de negócio mora no servidor. Sempre.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Inter"/>
              </a:rPr>
              <a:t>03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BOAS PRÁTICAS DE DEFESA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Onde os servidores falham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As armadilhas mais comuns que dev iniciante cai.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i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fai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Aceitam dados sem validar tipo, formato ou tamanho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Aceitam campos que o cliente não deveria poder mexer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"ah, o front nunca manda isso" — manda sim, com Burp manda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Verificam permissão SÓ no JavaScript do navegador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Cookies sem proteção (HttpOnly, SameSite, Secure)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Mensagens de erro que vazam estrutura interna do banco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Confiam em IDs/parâmetros vindos da URL sem validar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Inter"/>
              </a:rPr>
              <a:t>03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BOAS PRÁTICAS DE DEFESA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Os 4 vilões mais comuns na web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OWASP Top 10 — versão simplificada.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was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owas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Broken Access Control  ·  servidor não checa permissão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#1 do mundo real. É o que vocês vão explorar na prática.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Broken Authentication  ·  senha fraca, sessão mal feita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Injection (SQL, XSS, …)  ·  cliente envia código que vira execução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Security Misconfiguration  ·  defaults inseguros, debug ligado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Inter"/>
              </a:rPr>
              <a:t>03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BOAS PRÁTICAS DE DEFESA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Defesa em camadas — defense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Você nunca confia em uma única barreira.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fen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defen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Validação no front-end  ·  experiência do usuário, NÃO é segurança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Validação no back-end  ·  primeira barreira de verdade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Permissões por rota  ·  só admin acessa /admin, ponto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Banco de dados com privilégios mínimos  ·  app de leitura não escreve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Logs e monitoramento  ·  se algo passar, você descobre depois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Atualizações em dia  ·  90% dos hacks usam falhas já corrigidas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31520"/>
            <a:ext cx="7315200" cy="64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0" b="1" i="0">
                <a:solidFill>
                  <a:srgbClr val="1B243A"/>
                </a:solidFill>
                <a:latin typeface="Inter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931920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Inter"/>
              </a:rPr>
              <a:t>BLOCO  ·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6280"/>
            <a:ext cx="1371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0" b="1" i="0">
                <a:solidFill>
                  <a:srgbClr val="F8FAFC"/>
                </a:solidFill>
                <a:latin typeface="Inter"/>
              </a:rPr>
              <a:t>Ferramentas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94360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Inter"/>
              </a:rPr>
              <a:t>04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FERRAMENTAS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Inter"/>
              </a:rPr>
              <a:t>04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Ferramenta 1  ·  Burp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Um proxy que se senta entre você e o servidor.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56616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9776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60A5FA"/>
                </a:solidFill>
                <a:latin typeface="Inter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8006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0A5FA"/>
                </a:solidFill>
                <a:latin typeface="Inter"/>
              </a:rPr>
              <a:t>NAVEGADOR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52120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Inter"/>
              </a:rPr>
              <a:t>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5852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7AE"/>
                </a:solidFill>
                <a:latin typeface="Inter"/>
              </a:rPr>
              <a:t>você está aqui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83680" y="4754880"/>
            <a:ext cx="822960" cy="411480"/>
          </a:xfrm>
          <a:prstGeom prst="rightArrow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356616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1B243A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9776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4ADE80"/>
                </a:solidFill>
                <a:latin typeface="Inter"/>
              </a:rPr>
              <a:t>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8006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  <a:latin typeface="Inter"/>
              </a:rPr>
              <a:t>BURP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2120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Inter"/>
              </a:rPr>
              <a:t>proxy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852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7AE"/>
                </a:solidFill>
                <a:latin typeface="Inter"/>
              </a:rPr>
              <a:t>intercepta + edita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1612880" y="4754880"/>
            <a:ext cx="822960" cy="411480"/>
          </a:xfrm>
          <a:prstGeom prst="rightArrow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618720" y="356616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0" y="39776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A78BFA"/>
                </a:solidFill>
                <a:latin typeface="Inter"/>
              </a:rPr>
              <a:t>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0" y="48006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  <a:latin typeface="Inter"/>
              </a:rPr>
              <a:t>SERVIDOR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0" y="52120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  <a:latin typeface="Inter"/>
              </a:rPr>
              <a:t>remoto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93040" y="5852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7AE"/>
                </a:solidFill>
                <a:latin typeface="Inter"/>
              </a:rPr>
              <a:t>responde sem saber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858000"/>
            <a:ext cx="1728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8B97AE"/>
                </a:solidFill>
                <a:latin typeface="Inter"/>
              </a:rPr>
              <a:t>Cada requisição passa pelo Burp antes de chegar ao servidor — você pode pausar, editar e reenviar.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Inter"/>
              </a:rPr>
              <a:t>04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O que o Burp deixa você fazer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As 4 funções que vocês vão usar hoje.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rp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burp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Intercept  ·  pausa a requisição antes dela sair do navegador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Forward  ·  libera a requisição (com ou sem edição)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Repeater  ·  manda a mesma requisição várias vezes alterando o body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Proxy History  ·  log completo de tudo que passou na sessão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Por que profissionais usam: o navegador esconde coisas. O Burp não.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Inter"/>
              </a:rPr>
              <a:t>04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Hora da prática  ·  PampaBank CTF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Vocês vão usar o Burp pra atacar um banco fictício.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ctivity-b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activity-b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URL  ·  pampabank-ctf.vercel.app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Credenciais  ·  aluno@pampabank.ctf  /  ctf123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Missão  ·  virar cliente PREMIUM sem pagar nada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Ferramenta  ·  Burp Suite (DevTools também serve)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💡  Botão "Estou empacado" no canto inferior direito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4 dicas progressivas se travarem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Não dêem a resposta uns pros outros.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Inter"/>
              </a:rPr>
              <a:t>04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Ferramenta 2  ·  Nmap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Mapeador de rede — descobre o que tá rodando onde.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map-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nmap-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Pentester abre o Nmap antes de qualquer outra coisa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Mostra: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quais máquinas estão ligadas e respondendo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quais portas estão abertas em cada uma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qual serviço (e qual versão) tá rodando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se dá pra deduzir o sistema operacional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Não invade nada — só pergunta. Mas ouvir bem já dá muita informação.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Inter"/>
              </a:rPr>
              <a:t>04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Nmap  ·  comandos básicos pra começar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Você vai usar 90% do tempo só essas linhas.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17282160" cy="6263640"/>
          </a:xfrm>
          <a:prstGeom prst="roundRect">
            <a:avLst>
              <a:gd name="adj" fmla="val 2000"/>
            </a:avLst>
          </a:prstGeom>
          <a:solidFill>
            <a:srgbClr val="050912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383280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338328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3383280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55848"/>
            <a:ext cx="1728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790"/>
                </a:solidFill>
                <a:latin typeface="JetBrains Mono"/>
              </a:rPr>
              <a:t>terminal — 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6642080" cy="5349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7790"/>
                </a:solidFill>
                <a:latin typeface="JetBrains Mono"/>
              </a:rPr>
              <a:t># descobrir quais máquinas estão vivas na rede local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4ADE80"/>
                </a:solidFill>
                <a:latin typeface="JetBrains Mono"/>
              </a:rPr>
              <a:t>$ </a:t>
            </a:r>
            <a:r>
              <a:rPr sz="2200" b="0" i="0">
                <a:solidFill>
                  <a:srgbClr val="F8FAFC"/>
                </a:solidFill>
                <a:latin typeface="JetBrains Mono"/>
              </a:rPr>
              <a:t>nmap -sn 192.168.0.0/24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7790"/>
                </a:solidFill>
                <a:latin typeface="JetBrains Mono"/>
              </a:rPr>
              <a:t># ver as portas abertas de uma máquina específica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4ADE80"/>
                </a:solidFill>
                <a:latin typeface="JetBrains Mono"/>
              </a:rPr>
              <a:t>$ </a:t>
            </a:r>
            <a:r>
              <a:rPr sz="2200" b="0" i="0">
                <a:solidFill>
                  <a:srgbClr val="F8FAFC"/>
                </a:solidFill>
                <a:latin typeface="JetBrains Mono"/>
              </a:rPr>
              <a:t>nmap 192.168.0.10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7790"/>
                </a:solidFill>
                <a:latin typeface="JetBrains Mono"/>
              </a:rPr>
              <a:t># descobrir o serviço e versão de cada porta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4ADE80"/>
                </a:solidFill>
                <a:latin typeface="JetBrains Mono"/>
              </a:rPr>
              <a:t>$ </a:t>
            </a:r>
            <a:r>
              <a:rPr sz="2200" b="0" i="0">
                <a:solidFill>
                  <a:srgbClr val="F8FAFC"/>
                </a:solidFill>
                <a:latin typeface="JetBrains Mono"/>
              </a:rPr>
              <a:t>nmap -sV 192.168.0.10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7790"/>
                </a:solidFill>
                <a:latin typeface="JetBrains Mono"/>
              </a:rPr>
              <a:t># tudo: portas + serviços + SO + scripts default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4ADE80"/>
                </a:solidFill>
                <a:latin typeface="JetBrains Mono"/>
              </a:rPr>
              <a:t>$ </a:t>
            </a:r>
            <a:r>
              <a:rPr sz="2200" b="0" i="0">
                <a:solidFill>
                  <a:srgbClr val="F8FAFC"/>
                </a:solidFill>
                <a:latin typeface="JetBrains Mono"/>
              </a:rPr>
              <a:t>nmap -A 192.168.0.10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7790"/>
                </a:solidFill>
                <a:latin typeface="JetBrains Mono"/>
              </a:rPr>
              <a:t># varredura mais discreta (não bate de frente)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4ADE80"/>
                </a:solidFill>
                <a:latin typeface="JetBrains Mono"/>
              </a:rPr>
              <a:t>$ </a:t>
            </a:r>
            <a:r>
              <a:rPr sz="2200" b="0" i="0">
                <a:solidFill>
                  <a:srgbClr val="F8FAFC"/>
                </a:solidFill>
                <a:latin typeface="JetBrains Mono"/>
              </a:rPr>
              <a:t>nmap -sS -T2 192.168.0.10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Inter"/>
              </a:rPr>
              <a:t>04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Ferramenta 3  ·  IA acelerando 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Modelos atuais não substituem você — multiplicam.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-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ai-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ChatGPT, Claude, Copilot e afins viraram colegas de trabalho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Em segurança, eles servem pra: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explicar uma vulnerabilidade que você nunca viu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gerar scripts de pentest sob medida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revisar código procurando falhas comuns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traduzir Bash antigo pra Python (ou vice-versa)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automatizar tarefa repetitiva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DE80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Claude Code CLI roda no terminal, lê seus arquivos, escreve código.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Inter"/>
              </a:rPr>
              <a:t>04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Exemplo  ·  Claude gerando um scanner em 1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Da linguagem natural pro script funcional.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17282160" cy="6263640"/>
          </a:xfrm>
          <a:prstGeom prst="roundRect">
            <a:avLst>
              <a:gd name="adj" fmla="val 2000"/>
            </a:avLst>
          </a:prstGeom>
          <a:solidFill>
            <a:srgbClr val="050912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383280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338328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3383280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55848"/>
            <a:ext cx="1728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790"/>
                </a:solidFill>
                <a:latin typeface="JetBrains Mono"/>
              </a:rPr>
              <a:t>terminal — 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6642080" cy="5349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7790"/>
                </a:solidFill>
                <a:latin typeface="JetBrains Mono"/>
              </a:rPr>
              <a:t># abro o Claude Code direto no terminal do projeto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4ADE80"/>
                </a:solidFill>
                <a:latin typeface="JetBrains Mono"/>
              </a:rPr>
              <a:t>$ </a:t>
            </a:r>
            <a:r>
              <a:rPr sz="2200" b="0" i="0">
                <a:solidFill>
                  <a:srgbClr val="F8FAFC"/>
                </a:solidFill>
                <a:latin typeface="JetBrains Mono"/>
              </a:rPr>
              <a:t>claude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CBD5E1"/>
                </a:solidFill>
                <a:latin typeface="JetBrains Mono"/>
              </a:rPr>
              <a:t>&gt;  Escreva um script Python que use python-nmap pra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CBD5E1"/>
                </a:solidFill>
                <a:latin typeface="JetBrains Mono"/>
              </a:rPr>
              <a:t>&gt;  varrer minha rede local e gerar um relatório em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CBD5E1"/>
                </a:solidFill>
                <a:latin typeface="JetBrains Mono"/>
              </a:rPr>
              <a:t>&gt;  Markdown listando hosts vivos + portas abertas.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6B7790"/>
                </a:solidFill>
                <a:latin typeface="JetBrains Mono"/>
              </a:rPr>
              <a:t># Claude lê o projeto, escreve scan_network.py, te explica e pergunta se pode rodar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4ADE80"/>
                </a:solidFill>
                <a:latin typeface="JetBrains Mono"/>
              </a:rPr>
              <a:t>$ </a:t>
            </a:r>
            <a:r>
              <a:rPr sz="2200" b="0" i="0">
                <a:solidFill>
                  <a:srgbClr val="F8FAFC"/>
                </a:solidFill>
                <a:latin typeface="JetBrains Mono"/>
              </a:rPr>
              <a:t>python scan_network.py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CBD5E1"/>
                </a:solidFill>
                <a:latin typeface="JetBrains Mono"/>
              </a:rPr>
              <a:t>✓ scan completo · relatório salvo em ./report.md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31520"/>
            <a:ext cx="7315200" cy="64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0" b="1" i="0">
                <a:solidFill>
                  <a:srgbClr val="1B243A"/>
                </a:solidFill>
                <a:latin typeface="Inter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931920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  <a:latin typeface="Inter"/>
              </a:rPr>
              <a:t>BLOCO  ·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6280"/>
            <a:ext cx="1371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0" b="1" i="0">
                <a:solidFill>
                  <a:srgbClr val="F8FAFC"/>
                </a:solidFill>
                <a:latin typeface="Inter"/>
              </a:rPr>
              <a:t>Ética e 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943600"/>
            <a:ext cx="1828800" cy="548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Inter"/>
              </a:rPr>
              <a:t>05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ÉTICA E LEI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Inter"/>
              </a:rPr>
              <a:t>05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ÉTICA E LEI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Hacking só vale com autorização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Sem permissão = crime. Não tem zona cinzenta.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1728216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Ambientes que são SEUS  ·  máquina virtual, servidor próprio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CTFs e laboratórios  ·  TryHackMe, Hack The Box, PortSwigger Academy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Bug bounty  ·  HackerOne, BugCrowd, Intigriti  —  você assina termos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Vagas de pentest  ·  contrato te dando escopo claro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Tudo o resto = crime, mesmo que pareça inofensivo.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Inter"/>
              </a:rPr>
              <a:t>05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ÉTICA E LEI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Leis brasileiras que vocês precisam conhecer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Carreira em segurança não começa com cadeia.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1728216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Lei 12.737/2012  ·  "Carolina Dieckmann"</a:t>
            </a:r>
          </a:p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400" b="0" i="0">
                <a:solidFill>
                  <a:srgbClr val="CBD5E1"/>
                </a:solidFill>
                <a:latin typeface="Inter"/>
              </a:rPr>
              <a:t>invasão de dispositivo informático sem autorização</a:t>
            </a:r>
          </a:p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400" b="0" i="0">
                <a:solidFill>
                  <a:srgbClr val="CBD5E1"/>
                </a:solidFill>
                <a:latin typeface="Inter"/>
              </a:rPr>
              <a:t>pena: 3 meses a 1 ano de detenção, mais multa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LGPD  ·  Lei 13.709/2018</a:t>
            </a:r>
          </a:p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400" b="0" i="0">
                <a:solidFill>
                  <a:srgbClr val="CBD5E1"/>
                </a:solidFill>
                <a:latin typeface="Inter"/>
              </a:rPr>
              <a:t>vazamento ou uso indevido de dados pessoais</a:t>
            </a:r>
          </a:p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400" b="0" i="0">
                <a:solidFill>
                  <a:srgbClr val="CBD5E1"/>
                </a:solidFill>
                <a:latin typeface="Inter"/>
              </a:rPr>
              <a:t>multa: até R$ 50 milhões pra empresa, mais responsabilização pessoal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800" b="0" i="0">
                <a:solidFill>
                  <a:srgbClr val="F8FAFC"/>
                </a:solidFill>
                <a:latin typeface="Inter"/>
              </a:rPr>
              <a:t>Marco Civil da Internet  ·  Lei 12.965/2014</a:t>
            </a:r>
          </a:p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400" b="0" i="0">
                <a:solidFill>
                  <a:srgbClr val="CBD5E1"/>
                </a:solidFill>
                <a:latin typeface="Inter"/>
              </a:rPr>
              <a:t>regula direitos e deveres na internet brasileira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Inter"/>
              </a:rPr>
              <a:t>05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ÉTICA E LEI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728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Por onde seguir agora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B97AE"/>
                </a:solidFill>
                <a:latin typeface="Inter"/>
              </a:rPr>
              <a:t>A aula acaba aqui — o aprendizado é vocês.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822960" cy="3657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0" y="3108960"/>
            <a:ext cx="6629400" cy="6263640"/>
          </a:xfrm>
          <a:prstGeom prst="roundRect">
            <a:avLst>
              <a:gd name="adj" fmla="val 3000"/>
            </a:avLst>
          </a:prstGeom>
          <a:solidFill>
            <a:srgbClr val="141B2D"/>
          </a:solidFill>
          <a:ln w="9525">
            <a:solidFill>
              <a:srgbClr val="2A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pic>
        <p:nvPicPr>
          <p:cNvPr id="11" name="Picture 10" descr="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154680"/>
            <a:ext cx="6537960" cy="617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01400" y="3154680"/>
            <a:ext cx="6537960" cy="6172200"/>
          </a:xfrm>
          <a:prstGeom prst="rect">
            <a:avLst/>
          </a:prstGeom>
          <a:solidFill>
            <a:srgbClr val="0A0E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0012680" cy="626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Plataformas grátis pra praticar: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TryHackMe  ·  trilhas guiadas, ótimo pra começar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PortSwigger Web Security Academy  ·  feito pelos donos do Burp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Hack The Box  ·  já assume que você sabe um pouco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OverTheWire  ·  CTFs no terminal, foco em Linux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87171"/>
                </a:solidFill>
                <a:latin typeface="Inter"/>
              </a:rPr>
              <a:t>▪  </a:t>
            </a:r>
            <a:r>
              <a:rPr sz="2600" b="0" i="0">
                <a:solidFill>
                  <a:srgbClr val="F8FAFC"/>
                </a:solidFill>
                <a:latin typeface="Inter"/>
              </a:rPr>
              <a:t>Comunidades: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OWASP, DEF CON groups locais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A5670"/>
                </a:solidFill>
                <a:latin typeface="Inter"/>
              </a:rPr>
              <a:t>      —  </a:t>
            </a:r>
            <a:r>
              <a:rPr sz="2200" b="0" i="0">
                <a:solidFill>
                  <a:srgbClr val="CBD5E1"/>
                </a:solidFill>
                <a:latin typeface="Inter"/>
              </a:rPr>
              <a:t>CTFs nacionais: H2HC, Roadsec, Mente Binária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0287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Inter"/>
              </a:rPr>
              <a:t>05</a:t>
            </a:r>
            <a:r>
              <a:rPr sz="1300" b="0" i="0">
                <a:solidFill>
                  <a:srgbClr val="4A5670"/>
                </a:solidFill>
                <a:latin typeface="Inter"/>
              </a:rPr>
              <a:t>  ·  </a:t>
            </a:r>
            <a:r>
              <a:rPr sz="1300" b="1" i="0">
                <a:solidFill>
                  <a:srgbClr val="8B97AE"/>
                </a:solidFill>
                <a:latin typeface="Inter"/>
              </a:rPr>
              <a:t>ÉTICA E LEI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670"/>
                </a:solidFill>
                <a:latin typeface="Inter"/>
              </a:rPr>
              <a:t>Daniel Tomm  ·  Francesco Galvão  ·  IF Sul · Técnico em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0" y="9875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4A5670"/>
                </a:solidFill>
                <a:latin typeface="Inter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1371600" cy="548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728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  <a:latin typeface="Inter"/>
              </a:rPr>
              <a:t>VALEU PESSOAL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72821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8FAFC"/>
                </a:solidFill>
                <a:latin typeface="Inter"/>
              </a:rPr>
              <a:t>“Saber atacar dá poder.”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772400"/>
            <a:ext cx="1728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8B97AE"/>
                </a:solidFill>
                <a:latin typeface="Inter"/>
              </a:rPr>
              <a:t>Poder vem com responsabilidade.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DAHI6iJETpE</dc:identifier>
  <dcterms:modified xsi:type="dcterms:W3CDTF">2011-08-01T06:04:30Z</dcterms:modified>
  <cp:revision>1</cp:revision>
  <dc:title>Cópia de iCIMS IT Security Policy </dc:title>
</cp:coreProperties>
</file>